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6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于洋 戴" initials="于戴" lastIdx="1" clrIdx="0">
    <p:extLst>
      <p:ext uri="{19B8F6BF-5375-455C-9EA6-DF929625EA0E}">
        <p15:presenceInfo xmlns:p15="http://schemas.microsoft.com/office/powerpoint/2012/main" userId="51fee73827b072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56062-F295-D931-32DA-4F1841F12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94C5A7-EC9B-1C72-7FC9-80150987F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1CE14-6793-B2B1-C4AB-572CB753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9B834-5925-534A-DBFE-BFE57E20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D55CD-DC7E-5AE3-0E6A-C05A6416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8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3F0BD-64D3-F8A5-529F-B573FB56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E708-0953-9C75-628A-AD686872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569DB-B452-F0EA-C7C2-C18E5C3C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158C93-17EB-1D69-71FF-0AADC840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D6DAD-A11F-0008-29D8-3E8E11F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64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B1258-A23B-E6A4-0A86-ADAB8CC0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279246-03F4-8137-92F1-96AD5E37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C3E837-2F62-7893-AD1E-F83E36F7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E0CA3-6542-0B2D-26E0-2794EA64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BD84D-BD91-22D6-A0D8-C05E5C0E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33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48DE3-44DC-CD8F-5B1D-67E58022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95F25-55BC-35D1-0384-8E0447183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1D5BC-CFBE-3649-6D0D-F4B870706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2767B4-A8C6-67E4-A5DF-88997F7D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E26A6-6F60-1370-2ABC-C1DBA5A1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1DFE9D-5877-840A-DCDD-2E7BF5EE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9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59C6D-1008-DD28-705E-1C24FB39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7413D8-AFBF-7716-6324-289784549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F0210C-C893-F0AF-BFC9-E474EBD7A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05B39C-2E42-E097-606B-ACE6FB301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A9D853-7F58-F73A-786A-50392F410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4DF25B-7B1A-7CBD-ECA6-24E1A7C5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5FA1AC-9A4E-8E5F-B2C4-2D7CD665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DD913C-782C-56F2-18E2-D7400233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81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8466B-D5FB-9BB0-1E5A-97B4FFF0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3FB30C-DD15-9061-3BB2-DC7AC0D5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380D03-397B-FCB9-8755-ED61FA41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F6F818-B554-F7A9-F619-92EDB0C3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48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C8C2F0-1D33-5972-D565-5697D2F7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F0B901-2498-FC3B-5D69-9D7E4ED3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1B4E8-739F-EEF2-EDB5-0A483946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97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4FC89-CABE-8650-2768-C8E60635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D0B99-F7D3-0921-B8B3-FFCE789D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30169-4887-A8B8-7B39-FB07E07A3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089DA8-0E9A-20A3-79E7-D6150632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C4739E-3382-A4F4-5A3B-46CB4683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1CFB18-E660-4879-D3B5-DC83FFDF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28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B809C-8C83-65AF-41E2-036377B2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9BA401-7945-B843-7E39-EBF8542D4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DDA9D3-E345-E7F8-9A05-E58390C8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33B600-EDD4-95E1-18D6-3E21DCA9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C5A4B-95B7-A296-E44B-EE42D164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44170A-3966-F476-A253-748A2977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608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3AAF5-A4B1-81D9-B0D2-5DD5C6AE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D16F3C-F1B7-E98C-4C7F-FDCDA975A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FB7F3-2069-4343-CE8F-93186F2C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BFC7AD-1AAB-8839-BE2A-D737884B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DD766-4816-A2EA-6CF0-D2134017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18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BF48AE-E7BD-50F5-50A6-F844A6550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127F67-2F8C-763B-217F-926B6F9A3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AA773-B953-52A1-7A4F-4856A143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06236-89A2-6860-2EB1-3F6D923C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376F1-50BE-BFFD-ED2E-43CA7C55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4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777181-8CE8-55DF-9406-5E377F43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A3E3DB-9E27-CF92-795E-664524CC2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F2F098-50D8-C20B-4344-83FA9E118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0C027-F9B2-4601-8F7D-56DD84C1A999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F7D8E-4B12-6AC1-EB0A-09A6CD48B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9920B-51D6-C57B-2CDC-2D41BB78E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1FF1-2B48-405E-A54B-CB0E5E50C1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89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A6949-B226-5871-A78D-EE69006D4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3BBD7B-FC70-C365-C7C9-E12CE58C73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Ribbon_Fish</a:t>
            </a:r>
            <a:endParaRPr lang="en-US" altLang="zh-CN" dirty="0"/>
          </a:p>
          <a:p>
            <a:r>
              <a:rPr lang="en-US" altLang="zh-CN" sz="2000" dirty="0"/>
              <a:t>From </a:t>
            </a:r>
            <a:r>
              <a:rPr lang="en-US" altLang="zh-CN" sz="2000" dirty="0" err="1"/>
              <a:t>Konjoke</a:t>
            </a:r>
            <a:r>
              <a:rPr lang="en-US" altLang="zh-CN" sz="2000" dirty="0"/>
              <a:t> Alliance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028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ACDA2-6375-B42A-1351-3CC1F9EB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欧几里得定理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666EE1-38A2-B770-6C9B-52BF212F8C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对于任意两个整数 </a:t>
                </a:r>
                <a:r>
                  <a:rPr lang="en-US" altLang="zh-CN" dirty="0"/>
                  <a:t>a </a:t>
                </a:r>
                <a:r>
                  <a:rPr lang="zh-CN" altLang="en-US" dirty="0"/>
                  <a:t>和 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（其中 </a:t>
                </a:r>
                <a:r>
                  <a:rPr lang="en-US" altLang="zh-CN" dirty="0"/>
                  <a:t>b≠0</a:t>
                </a:r>
                <a:r>
                  <a:rPr lang="zh-CN" altLang="en-US" dirty="0"/>
                  <a:t>），它们的最大公因数（</a:t>
                </a:r>
                <a:r>
                  <a:rPr lang="en-US" altLang="zh-CN" dirty="0"/>
                  <a:t>GCD</a:t>
                </a:r>
                <a:r>
                  <a:rPr lang="zh-CN" altLang="en-US" dirty="0"/>
                  <a:t>）满足：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666EE1-38A2-B770-6C9B-52BF212F8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19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CAD9A-0C8D-0ADE-AB7F-FA6EDD9E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裴蜀定理 </a:t>
            </a:r>
            <a:r>
              <a:rPr lang="en-US" altLang="zh-CN" b="1" dirty="0"/>
              <a:t>&amp; </a:t>
            </a:r>
            <a:r>
              <a:rPr lang="zh-CN" altLang="en-US" b="1" dirty="0"/>
              <a:t>扩展欧几里得定理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DEB78D-A24D-8FA4-EF06-48CABC93F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698"/>
                <a:ext cx="11190668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裴蜀定理</a:t>
                </a:r>
                <a:r>
                  <a:rPr lang="zh-CN" altLang="en-US" dirty="0"/>
                  <a:t>：设 𝑎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𝑏 是不全为零的整数，对任意整数 𝑥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𝑦，满足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)∣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zh-CN" altLang="en-US" dirty="0"/>
                  <a:t>，且存在整数 𝑥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𝑦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使得 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b="1" dirty="0"/>
                  <a:t>扩欧</a:t>
                </a:r>
                <a:r>
                  <a:rPr lang="zh-CN" altLang="en-US" dirty="0"/>
                  <a:t>：用于求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的一组解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𝑎𝑥</m:t>
                      </m:r>
                      <m:r>
                        <a:rPr lang="zh-CN" altLang="zh-CN" sz="2800" b="0" i="1" baseline="-250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1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+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𝑏𝑦</m:t>
                      </m:r>
                      <m:r>
                        <a:rPr lang="zh-CN" altLang="zh-CN" sz="2800" b="0" i="1" baseline="-250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1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2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rial" panose="020B060402020202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zh-CN" altLang="zh-CN" sz="2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𝑎</m:t>
                              </m:r>
                              <m:r>
                                <a:rPr lang="zh-CN" altLang="zh-CN" sz="2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zh-CN" altLang="zh-CN" sz="2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gcd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⁡(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𝑏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,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𝑎</m:t>
                      </m:r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mod</m:t>
                      </m:r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𝑏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)=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𝑏𝑥</m:t>
                      </m:r>
                      <m:r>
                        <a:rPr lang="zh-CN" altLang="zh-CN" sz="2800" b="0" i="1" baseline="-250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2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+(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𝑎</m:t>
                      </m:r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mod</m:t>
                      </m:r>
                      <m:r>
                        <a:rPr lang="en-US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𝑏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)</m:t>
                      </m:r>
                      <m:r>
                        <a:rPr lang="zh-CN" altLang="zh-CN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𝑦</m:t>
                      </m:r>
                      <m:r>
                        <a:rPr lang="zh-CN" altLang="zh-CN" sz="2800" b="0" i="1" baseline="-25000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 altLang="zh-CN" sz="2800" baseline="-25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2800" baseline="-25000" dirty="0"/>
              </a:p>
              <a:p>
                <a:r>
                  <a:rPr lang="zh-CN" altLang="en-US" dirty="0"/>
                  <a:t>扩欧也可用于求逆元，因为</a:t>
                </a:r>
                <a:r>
                  <a:rPr lang="en-US" altLang="zh-CN" i="1" dirty="0">
                    <a:latin typeface="Cambria Math" panose="02040503050406030204" pitchFamily="18" charset="0"/>
                  </a:rPr>
                  <a:t>a</a:t>
                </a:r>
                <a:r>
                  <a:rPr lang="zh-CN" altLang="en-US" dirty="0"/>
                  <a:t>、</a:t>
                </a:r>
                <a:r>
                  <a:rPr lang="en-US" altLang="zh-CN" i="1" dirty="0">
                    <a:latin typeface="Cambria Math" panose="02040503050406030204" pitchFamily="18" charset="0"/>
                  </a:rPr>
                  <a:t>b</a:t>
                </a:r>
                <a:r>
                  <a:rPr lang="zh-CN" altLang="en-US" dirty="0"/>
                  <a:t>互素的时候求解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ax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有可能是负数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DEB78D-A24D-8FA4-EF06-48CABC93F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698"/>
                <a:ext cx="11190668" cy="4351338"/>
              </a:xfrm>
              <a:blipFill>
                <a:blip r:embed="rId2"/>
                <a:stretch>
                  <a:fillRect l="-981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81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AB0FE-59A9-BA37-8FC2-E9D8427A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扩展欧几里得定理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68F66D-1CD8-C0A1-0574-14BE657FA8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/>
              <a:lstStyle/>
              <a:p>
                <a:r>
                  <a:rPr lang="zh-CN" altLang="en-US" dirty="0"/>
                  <a:t>扩欧还可以用于求解线性同余方程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，转化成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求解，当且仅当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err="1" smtClean="0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有解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i="0" dirty="0"/>
                      <m:t>在原版扩欧方程左右同时乘以</m:t>
                    </m:r>
                    <m:r>
                      <m:rPr>
                        <m:nor/>
                      </m:rPr>
                      <a:rPr lang="en-US" altLang="zh-CN" i="0" dirty="0"/>
                      <m:t> 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zh-CN" altLang="en-US" dirty="0">
                        <a:latin typeface="Cambria Math" panose="02040503050406030204" pitchFamily="18" charset="0"/>
                      </a:rPr>
                      <m:t>可得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的一组解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，通解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取任意整数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68F66D-1CD8-C0A1-0574-14BE657FA8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9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896E7-0A15-D650-72EB-68EAE932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中国剩余定理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006E4C-C71C-C99B-9AC8-809B38DC2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求解一元线性同余方程，其中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baseline="-25000" dirty="0"/>
                  <a:t> </a:t>
                </a:r>
                <a:r>
                  <a:rPr lang="zh-CN" altLang="en-US" dirty="0"/>
                  <a:t>互质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……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有物不知其数，三三数之剩二，五五数之剩三，七七数之剩二。问物几何？</a:t>
                </a:r>
                <a:endParaRPr lang="en-US" altLang="zh-CN" dirty="0"/>
              </a:p>
              <a:p>
                <a:pPr marL="0" indent="0" algn="r">
                  <a:buNone/>
                </a:pPr>
                <a:r>
                  <a:rPr lang="en-US" altLang="zh-CN" dirty="0"/>
                  <a:t>——《</a:t>
                </a:r>
                <a:r>
                  <a:rPr lang="zh-CN" altLang="en-US" dirty="0"/>
                  <a:t>孙子算经</a:t>
                </a:r>
                <a:r>
                  <a:rPr lang="en-US" altLang="zh-CN" dirty="0"/>
                  <a:t>》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006E4C-C71C-C99B-9AC8-809B38DC2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58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6369A-B7DD-68AF-7D23-61D2DA86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中国剩余定理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C222CF-F445-0FCB-DF61-DF937AF7F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85400"/>
              </a:xfrm>
            </p:spPr>
            <p:txBody>
              <a:bodyPr/>
              <a:lstStyle/>
              <a:p>
                <a:r>
                  <a:rPr lang="en-US" altLang="zh-CN" dirty="0"/>
                  <a:t>1</a:t>
                </a:r>
                <a:r>
                  <a:rPr lang="zh-CN" altLang="en-US" dirty="0"/>
                  <a:t>、计算所有模数的积</a:t>
                </a:r>
                <a:r>
                  <a:rPr lang="en-US" altLang="zh-CN" dirty="0"/>
                  <a:t>n</a:t>
                </a:r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、对于第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个方程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在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意义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下的逆元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计算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/>
                  <a:t>   </a:t>
                </a:r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、方程组在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意义下的唯一解为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C222CF-F445-0FCB-DF61-DF937AF7F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85400"/>
              </a:xfrm>
              <a:blipFill>
                <a:blip r:embed="rId2"/>
                <a:stretch>
                  <a:fillRect l="-1043" t="-2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1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CFD15-5295-BA11-21CF-AA64C0DC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扩展中国剩余定理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C968C9-8A91-2772-68BF-FFE467562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处理模数不互素的情况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考虑方程组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zh-CN" altLang="en-US" dirty="0"/>
                  <a:t> ，将其转化为不定方程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𝑞𝑛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𝑝𝑛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𝑞𝑛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然后可用扩欧解出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）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则方程可化为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𝑝𝑛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 baseline="-25000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𝑙𝑐𝑚</m:t>
                      </m:r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baseline="-250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多个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方程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方程组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求解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只需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两两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化归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为一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即可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C968C9-8A91-2772-68BF-FFE467562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97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1D6D8-6E3F-E62F-B093-60EBA281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卢卡斯定理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176644-8A1D-2ABD-F680-0C76F8E72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在模数较小的情况下快速计算排列组合数</a:t>
                </a:r>
                <a:endParaRPr lang="en-US" altLang="zh-CN" dirty="0"/>
              </a:p>
              <a:p>
                <a:r>
                  <a:rPr lang="zh-CN" altLang="en-US" dirty="0"/>
                  <a:t>对于素数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，有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176644-8A1D-2ABD-F680-0C76F8E72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47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D21F-D719-36FD-B2D0-E3444D6E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数论分块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A39BAF-9756-4802-F422-65E35778C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对于常数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，使得式子 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⌋=⌊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j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zh-CN" altLang="en-US" dirty="0"/>
                  <a:t>成立且满足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 值最大为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⌊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⌋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zh-CN" altLang="en-US" dirty="0"/>
                  <a:t>，即值  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zh-CN" altLang="en-US" dirty="0"/>
                  <a:t>所在块的右端点为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⌊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⌋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r>
                  <a:rPr lang="zh-CN" altLang="en-US" dirty="0"/>
                  <a:t>对于常数 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使得式子 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⌉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=⌈ 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j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zh-CN" altLang="en-US" dirty="0"/>
                  <a:t>成立且满足 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值最大为 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⌊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⌋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zh-CN" altLang="en-US" dirty="0"/>
                  <a:t>，即值 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⌉</m:t>
                    </m:r>
                  </m:oMath>
                </a14:m>
                <a:r>
                  <a:rPr lang="zh-CN" altLang="en-US" dirty="0"/>
                  <a:t>所在块的右端点为 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⌊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⌋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zh-CN" altLang="en-US" dirty="0"/>
                  <a:t>。注意：当 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时，上式分母为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，需要特殊处理，一般令结果为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𝑀𝐴𝑋𝑁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A39BAF-9756-4802-F422-65E35778C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79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CF78D-DF01-4C4D-EC20-46AB2FB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例题讲解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F757F-0B3A-1D2F-DAFB-CC70C0DCD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https://vjudge.net/contest/737294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586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684</Words>
  <Application>Microsoft Office PowerPoint</Application>
  <PresentationFormat>宽屏</PresentationFormat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Office 主题​​</vt:lpstr>
      <vt:lpstr>数论</vt:lpstr>
      <vt:lpstr>欧几里得定理</vt:lpstr>
      <vt:lpstr>裴蜀定理 &amp; 扩展欧几里得定理</vt:lpstr>
      <vt:lpstr>扩展欧几里得定理</vt:lpstr>
      <vt:lpstr>中国剩余定理</vt:lpstr>
      <vt:lpstr>中国剩余定理</vt:lpstr>
      <vt:lpstr>扩展中国剩余定理</vt:lpstr>
      <vt:lpstr>卢卡斯定理</vt:lpstr>
      <vt:lpstr>数论分块</vt:lpstr>
      <vt:lpstr>例题讲解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于洋 戴</dc:creator>
  <cp:lastModifiedBy>于洋 戴</cp:lastModifiedBy>
  <cp:revision>4</cp:revision>
  <dcterms:created xsi:type="dcterms:W3CDTF">2025-08-05T10:45:27Z</dcterms:created>
  <dcterms:modified xsi:type="dcterms:W3CDTF">2026-03-29T12:27:12Z</dcterms:modified>
</cp:coreProperties>
</file>